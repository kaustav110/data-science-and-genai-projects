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9.xml" ContentType="application/vnd.openxmlformats-officedocument.drawingml.chart+xml"/>
  <Override PartName="/ppt/notesSlides/notesSlide22.xml" ContentType="application/vnd.openxmlformats-officedocument.presentationml.notesSlide+xml"/>
  <Override PartName="/ppt/charts/chart10.xml" ContentType="application/vnd.openxmlformats-officedocument.drawingml.chart+xml"/>
  <Override PartName="/ppt/notesSlides/notesSlide23.xml" ContentType="application/vnd.openxmlformats-officedocument.presentationml.notesSlide+xml"/>
  <Override PartName="/ppt/charts/chart1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2.xml" ContentType="application/vnd.openxmlformats-officedocument.drawingml.chart+xml"/>
  <Override PartName="/ppt/notesSlides/notesSlide26.xml" ContentType="application/vnd.openxmlformats-officedocument.presentationml.notesSlide+xml"/>
  <Override PartName="/ppt/charts/chart13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4.xml" ContentType="application/vnd.openxmlformats-officedocument.drawingml.chart+xml"/>
  <Override PartName="/ppt/notesSlides/notesSlide29.xml" ContentType="application/vnd.openxmlformats-officedocument.presentationml.notesSlide+xml"/>
  <Override PartName="/ppt/charts/chart15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6.xml" ContentType="application/vnd.openxmlformats-officedocument.drawingml.chart+xml"/>
  <Override PartName="/ppt/notesSlides/notesSlide32.xml" ContentType="application/vnd.openxmlformats-officedocument.presentationml.notesSlide+xml"/>
  <Override PartName="/ppt/charts/chart17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61CF7-9FF2-48EC-8976-F30FE1F0409B}" v="2" dt="2026-08-19T00:13:31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tav Mondal" userId="b4ce987ec216d9a1" providerId="LiveId" clId="{56508A89-2F39-40C2-B0C3-65B182FF0A1B}"/>
    <pc:docChg chg="modSld">
      <pc:chgData name="Kaustav Mondal" userId="b4ce987ec216d9a1" providerId="LiveId" clId="{56508A89-2F39-40C2-B0C3-65B182FF0A1B}" dt="2026-08-19T00:13:33.899" v="5"/>
      <pc:docMkLst>
        <pc:docMk/>
      </pc:docMkLst>
      <pc:sldChg chg="addSp delSp modSp mod">
        <pc:chgData name="Kaustav Mondal" userId="b4ce987ec216d9a1" providerId="LiveId" clId="{56508A89-2F39-40C2-B0C3-65B182FF0A1B}" dt="2026-08-19T00:13:33.899" v="5"/>
        <pc:sldMkLst>
          <pc:docMk/>
          <pc:sldMk cId="0" sldId="257"/>
        </pc:sldMkLst>
        <pc:spChg chg="add del mod">
          <ac:chgData name="Kaustav Mondal" userId="b4ce987ec216d9a1" providerId="LiveId" clId="{56508A89-2F39-40C2-B0C3-65B182FF0A1B}" dt="2026-08-19T00:13:33.899" v="5"/>
          <ac:spMkLst>
            <pc:docMk/>
            <pc:sldMk cId="0" sldId="257"/>
            <ac:spMk id="35" creationId="{A8EBFAC3-241A-DBB0-6812-A81EBD5DFDDA}"/>
          </ac:spMkLst>
        </pc:spChg>
      </pc:sldChg>
      <pc:sldChg chg="addSp delSp modSp mod">
        <pc:chgData name="Kaustav Mondal" userId="b4ce987ec216d9a1" providerId="LiveId" clId="{56508A89-2F39-40C2-B0C3-65B182FF0A1B}" dt="2026-08-17T16:26:36.672" v="2"/>
        <pc:sldMkLst>
          <pc:docMk/>
          <pc:sldMk cId="0" sldId="26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Apr '23</c:v>
                </c:pt>
                <c:pt idx="1">
                  <c:v>May '23</c:v>
                </c:pt>
                <c:pt idx="2">
                  <c:v>Jun '23</c:v>
                </c:pt>
                <c:pt idx="3">
                  <c:v>Jul '23</c:v>
                </c:pt>
                <c:pt idx="4">
                  <c:v>Aug '23</c:v>
                </c:pt>
                <c:pt idx="5">
                  <c:v>Sep '23</c:v>
                </c:pt>
                <c:pt idx="6">
                  <c:v>Oct '23</c:v>
                </c:pt>
                <c:pt idx="7">
                  <c:v>Nov '23</c:v>
                </c:pt>
                <c:pt idx="8">
                  <c:v>Dec '23</c:v>
                </c:pt>
                <c:pt idx="9">
                  <c:v>Jan '24</c:v>
                </c:pt>
                <c:pt idx="10">
                  <c:v>Feb '24</c:v>
                </c:pt>
                <c:pt idx="11">
                  <c:v>Mar '24</c:v>
                </c:pt>
                <c:pt idx="12">
                  <c:v>Apr '24</c:v>
                </c:pt>
                <c:pt idx="13">
                  <c:v>May '24</c:v>
                </c:pt>
                <c:pt idx="14">
                  <c:v>Jun '24</c:v>
                </c:pt>
                <c:pt idx="15">
                  <c:v>Jul '24</c:v>
                </c:pt>
                <c:pt idx="16">
                  <c:v>Aug '24</c:v>
                </c:pt>
                <c:pt idx="17">
                  <c:v>Sep '24</c:v>
                </c:pt>
                <c:pt idx="18">
                  <c:v>Oct '24</c:v>
                </c:pt>
                <c:pt idx="19">
                  <c:v>Nov '24</c:v>
                </c:pt>
                <c:pt idx="20">
                  <c:v>Dec '24</c:v>
                </c:pt>
                <c:pt idx="21">
                  <c:v>Jan '25</c:v>
                </c:pt>
                <c:pt idx="22">
                  <c:v>Feb '25</c:v>
                </c:pt>
                <c:pt idx="23">
                  <c:v>Mar '25</c:v>
                </c:pt>
                <c:pt idx="24">
                  <c:v>Apr '25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39713</c:v>
                </c:pt>
                <c:pt idx="1">
                  <c:v>124525</c:v>
                </c:pt>
                <c:pt idx="2">
                  <c:v>117307</c:v>
                </c:pt>
                <c:pt idx="3">
                  <c:v>64729</c:v>
                </c:pt>
                <c:pt idx="4">
                  <c:v>151848</c:v>
                </c:pt>
                <c:pt idx="5">
                  <c:v>88585</c:v>
                </c:pt>
                <c:pt idx="6">
                  <c:v>100583</c:v>
                </c:pt>
                <c:pt idx="7">
                  <c:v>131482</c:v>
                </c:pt>
                <c:pt idx="8">
                  <c:v>131766</c:v>
                </c:pt>
                <c:pt idx="9">
                  <c:v>144842</c:v>
                </c:pt>
                <c:pt idx="10">
                  <c:v>112752</c:v>
                </c:pt>
                <c:pt idx="11">
                  <c:v>102349</c:v>
                </c:pt>
                <c:pt idx="12">
                  <c:v>109756</c:v>
                </c:pt>
                <c:pt idx="13">
                  <c:v>142083</c:v>
                </c:pt>
                <c:pt idx="14">
                  <c:v>126559</c:v>
                </c:pt>
                <c:pt idx="15">
                  <c:v>109985</c:v>
                </c:pt>
                <c:pt idx="16">
                  <c:v>118825</c:v>
                </c:pt>
                <c:pt idx="17">
                  <c:v>151941</c:v>
                </c:pt>
                <c:pt idx="18">
                  <c:v>101268</c:v>
                </c:pt>
                <c:pt idx="19">
                  <c:v>101022</c:v>
                </c:pt>
                <c:pt idx="20">
                  <c:v>90152</c:v>
                </c:pt>
                <c:pt idx="21">
                  <c:v>109979</c:v>
                </c:pt>
                <c:pt idx="22">
                  <c:v>103612</c:v>
                </c:pt>
                <c:pt idx="23">
                  <c:v>116875</c:v>
                </c:pt>
                <c:pt idx="24">
                  <c:v>64809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BB-4FED-B094-246E7859D7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Laptop J</c:v>
                </c:pt>
                <c:pt idx="1">
                  <c:v>Bag P</c:v>
                </c:pt>
                <c:pt idx="2">
                  <c:v>Smartphone N</c:v>
                </c:pt>
                <c:pt idx="3">
                  <c:v>Watch M</c:v>
                </c:pt>
                <c:pt idx="4">
                  <c:v>Shirt D</c:v>
                </c:pt>
                <c:pt idx="5">
                  <c:v>Watch N</c:v>
                </c:pt>
                <c:pt idx="6">
                  <c:v>Bag E</c:v>
                </c:pt>
                <c:pt idx="7">
                  <c:v>Shirt Z</c:v>
                </c:pt>
                <c:pt idx="8">
                  <c:v>Bag Y</c:v>
                </c:pt>
                <c:pt idx="9">
                  <c:v>Smartphone 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53978</c:v>
                </c:pt>
                <c:pt idx="1">
                  <c:v>55637</c:v>
                </c:pt>
                <c:pt idx="2">
                  <c:v>55707</c:v>
                </c:pt>
                <c:pt idx="3">
                  <c:v>56835</c:v>
                </c:pt>
                <c:pt idx="4">
                  <c:v>57929</c:v>
                </c:pt>
                <c:pt idx="5">
                  <c:v>59467</c:v>
                </c:pt>
                <c:pt idx="6">
                  <c:v>64805</c:v>
                </c:pt>
                <c:pt idx="7">
                  <c:v>67469</c:v>
                </c:pt>
                <c:pt idx="8">
                  <c:v>75124</c:v>
                </c:pt>
                <c:pt idx="9">
                  <c:v>93856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6-4618-A791-E037AD709C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Home</c:v>
                </c:pt>
                <c:pt idx="2">
                  <c:v>Footwear</c:v>
                </c:pt>
                <c:pt idx="3">
                  <c:v>Accessories</c:v>
                </c:pt>
                <c:pt idx="4">
                  <c:v>Beauty</c:v>
                </c:pt>
                <c:pt idx="5">
                  <c:v>Clothing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649433</c:v>
                </c:pt>
                <c:pt idx="1">
                  <c:v>557384</c:v>
                </c:pt>
                <c:pt idx="2">
                  <c:v>451319</c:v>
                </c:pt>
                <c:pt idx="3">
                  <c:v>396838</c:v>
                </c:pt>
                <c:pt idx="4">
                  <c:v>354893</c:v>
                </c:pt>
                <c:pt idx="5">
                  <c:v>347479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E-4A77-8DF2-FE6A69BF48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Apr '23</c:v>
                </c:pt>
                <c:pt idx="1">
                  <c:v>May '23</c:v>
                </c:pt>
                <c:pt idx="2">
                  <c:v>Jun '23</c:v>
                </c:pt>
                <c:pt idx="3">
                  <c:v>Jul '23</c:v>
                </c:pt>
                <c:pt idx="4">
                  <c:v>Aug '23</c:v>
                </c:pt>
                <c:pt idx="5">
                  <c:v>Sep '23</c:v>
                </c:pt>
                <c:pt idx="6">
                  <c:v>Oct '23</c:v>
                </c:pt>
                <c:pt idx="7">
                  <c:v>Nov '23</c:v>
                </c:pt>
                <c:pt idx="8">
                  <c:v>Dec '23</c:v>
                </c:pt>
                <c:pt idx="9">
                  <c:v>Jan '24</c:v>
                </c:pt>
                <c:pt idx="10">
                  <c:v>Feb '24</c:v>
                </c:pt>
                <c:pt idx="11">
                  <c:v>Mar '24</c:v>
                </c:pt>
                <c:pt idx="12">
                  <c:v>Apr '24</c:v>
                </c:pt>
                <c:pt idx="13">
                  <c:v>May '24</c:v>
                </c:pt>
                <c:pt idx="14">
                  <c:v>Jun '24</c:v>
                </c:pt>
                <c:pt idx="15">
                  <c:v>Jul '24</c:v>
                </c:pt>
                <c:pt idx="16">
                  <c:v>Aug '24</c:v>
                </c:pt>
                <c:pt idx="17">
                  <c:v>Sep '24</c:v>
                </c:pt>
                <c:pt idx="18">
                  <c:v>Oct '24</c:v>
                </c:pt>
                <c:pt idx="19">
                  <c:v>Nov '24</c:v>
                </c:pt>
                <c:pt idx="20">
                  <c:v>Dec '24</c:v>
                </c:pt>
                <c:pt idx="21">
                  <c:v>Jan '25</c:v>
                </c:pt>
                <c:pt idx="22">
                  <c:v>Feb '25</c:v>
                </c:pt>
                <c:pt idx="23">
                  <c:v>Mar '25</c:v>
                </c:pt>
                <c:pt idx="24">
                  <c:v>Apr '25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2090</c:v>
                </c:pt>
                <c:pt idx="1">
                  <c:v>2965</c:v>
                </c:pt>
                <c:pt idx="2">
                  <c:v>2728</c:v>
                </c:pt>
                <c:pt idx="3">
                  <c:v>2697</c:v>
                </c:pt>
                <c:pt idx="4">
                  <c:v>3796</c:v>
                </c:pt>
                <c:pt idx="5">
                  <c:v>2605</c:v>
                </c:pt>
                <c:pt idx="6">
                  <c:v>3592</c:v>
                </c:pt>
                <c:pt idx="7">
                  <c:v>3371</c:v>
                </c:pt>
                <c:pt idx="8">
                  <c:v>3561</c:v>
                </c:pt>
                <c:pt idx="9">
                  <c:v>3714</c:v>
                </c:pt>
                <c:pt idx="10">
                  <c:v>3888</c:v>
                </c:pt>
                <c:pt idx="11">
                  <c:v>3198</c:v>
                </c:pt>
                <c:pt idx="12">
                  <c:v>3326</c:v>
                </c:pt>
                <c:pt idx="13">
                  <c:v>3643</c:v>
                </c:pt>
                <c:pt idx="14">
                  <c:v>3421</c:v>
                </c:pt>
                <c:pt idx="15">
                  <c:v>3142</c:v>
                </c:pt>
                <c:pt idx="16">
                  <c:v>3395</c:v>
                </c:pt>
                <c:pt idx="17">
                  <c:v>3896</c:v>
                </c:pt>
                <c:pt idx="18">
                  <c:v>2665</c:v>
                </c:pt>
                <c:pt idx="19">
                  <c:v>2886</c:v>
                </c:pt>
                <c:pt idx="20">
                  <c:v>3005</c:v>
                </c:pt>
                <c:pt idx="21">
                  <c:v>3142</c:v>
                </c:pt>
                <c:pt idx="22">
                  <c:v>2960</c:v>
                </c:pt>
                <c:pt idx="23">
                  <c:v>3542</c:v>
                </c:pt>
                <c:pt idx="24">
                  <c:v>2818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37-44A1-A6B8-D6E8477B8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Asia East</c:v>
                </c:pt>
                <c:pt idx="1">
                  <c:v>Asia South</c:v>
                </c:pt>
                <c:pt idx="2">
                  <c:v>Europe West</c:v>
                </c:pt>
                <c:pt idx="3">
                  <c:v>Africa North</c:v>
                </c:pt>
                <c:pt idx="4">
                  <c:v>Oceania</c:v>
                </c:pt>
                <c:pt idx="5">
                  <c:v>South America</c:v>
                </c:pt>
                <c:pt idx="6">
                  <c:v>North America</c:v>
                </c:pt>
                <c:pt idx="7">
                  <c:v>Middle East</c:v>
                </c:pt>
                <c:pt idx="8">
                  <c:v>Africa South</c:v>
                </c:pt>
                <c:pt idx="9">
                  <c:v>Europe Central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7.64</c:v>
                </c:pt>
                <c:pt idx="1">
                  <c:v>7.61</c:v>
                </c:pt>
                <c:pt idx="2">
                  <c:v>7.59</c:v>
                </c:pt>
                <c:pt idx="3">
                  <c:v>7.54</c:v>
                </c:pt>
                <c:pt idx="4">
                  <c:v>7.24</c:v>
                </c:pt>
                <c:pt idx="5">
                  <c:v>6.76</c:v>
                </c:pt>
                <c:pt idx="6">
                  <c:v>6.72</c:v>
                </c:pt>
                <c:pt idx="7">
                  <c:v>6.5</c:v>
                </c:pt>
                <c:pt idx="8">
                  <c:v>6.41</c:v>
                </c:pt>
                <c:pt idx="9">
                  <c:v>6.17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B2-43BD-9DD9-2D64F7F9E6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South America</c:v>
                </c:pt>
                <c:pt idx="1">
                  <c:v>Europe Central</c:v>
                </c:pt>
                <c:pt idx="2">
                  <c:v>Asia South</c:v>
                </c:pt>
                <c:pt idx="3">
                  <c:v>Africa North</c:v>
                </c:pt>
                <c:pt idx="4">
                  <c:v>Africa South</c:v>
                </c:pt>
                <c:pt idx="5">
                  <c:v>Asia East</c:v>
                </c:pt>
                <c:pt idx="6">
                  <c:v>North America</c:v>
                </c:pt>
                <c:pt idx="7">
                  <c:v>Europe West</c:v>
                </c:pt>
                <c:pt idx="8">
                  <c:v>Oceania</c:v>
                </c:pt>
                <c:pt idx="9">
                  <c:v>Middle East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</c:v>
                </c:pt>
                <c:pt idx="1">
                  <c:v>92</c:v>
                </c:pt>
                <c:pt idx="2">
                  <c:v>107</c:v>
                </c:pt>
                <c:pt idx="3">
                  <c:v>110</c:v>
                </c:pt>
                <c:pt idx="4">
                  <c:v>111</c:v>
                </c:pt>
                <c:pt idx="5">
                  <c:v>114</c:v>
                </c:pt>
                <c:pt idx="6">
                  <c:v>115</c:v>
                </c:pt>
                <c:pt idx="7">
                  <c:v>120</c:v>
                </c:pt>
                <c:pt idx="8">
                  <c:v>124</c:v>
                </c:pt>
                <c:pt idx="9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1E-4C9E-BA61-145711429C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Shirt Z</c:v>
                </c:pt>
                <c:pt idx="1">
                  <c:v>Watch N</c:v>
                </c:pt>
                <c:pt idx="2">
                  <c:v>Shirt G</c:v>
                </c:pt>
                <c:pt idx="3">
                  <c:v>Bag H</c:v>
                </c:pt>
                <c:pt idx="4">
                  <c:v>Watch N</c:v>
                </c:pt>
                <c:pt idx="5">
                  <c:v>Smartphone N</c:v>
                </c:pt>
                <c:pt idx="6">
                  <c:v>Bag Y</c:v>
                </c:pt>
                <c:pt idx="7">
                  <c:v>Watch M</c:v>
                </c:pt>
                <c:pt idx="8">
                  <c:v>Bag K</c:v>
                </c:pt>
                <c:pt idx="9">
                  <c:v>Smartphone 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79</c:v>
                </c:pt>
                <c:pt idx="1">
                  <c:v>80</c:v>
                </c:pt>
                <c:pt idx="2">
                  <c:v>81</c:v>
                </c:pt>
                <c:pt idx="3">
                  <c:v>82</c:v>
                </c:pt>
                <c:pt idx="4">
                  <c:v>84</c:v>
                </c:pt>
                <c:pt idx="5">
                  <c:v>87</c:v>
                </c:pt>
                <c:pt idx="6">
                  <c:v>90</c:v>
                </c:pt>
                <c:pt idx="7">
                  <c:v>91</c:v>
                </c:pt>
                <c:pt idx="8">
                  <c:v>93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F9-4A1E-A583-0FE6F1CF3C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Laptop J</c:v>
                </c:pt>
                <c:pt idx="1">
                  <c:v>Bag P</c:v>
                </c:pt>
                <c:pt idx="2">
                  <c:v>Smartphone N</c:v>
                </c:pt>
                <c:pt idx="3">
                  <c:v>Watch M</c:v>
                </c:pt>
                <c:pt idx="4">
                  <c:v>Shirt D</c:v>
                </c:pt>
                <c:pt idx="5">
                  <c:v>Watch N</c:v>
                </c:pt>
                <c:pt idx="6">
                  <c:v>Bag E</c:v>
                </c:pt>
                <c:pt idx="7">
                  <c:v>Shirt Z</c:v>
                </c:pt>
                <c:pt idx="8">
                  <c:v>Bag Y</c:v>
                </c:pt>
                <c:pt idx="9">
                  <c:v>Smartphone 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53978</c:v>
                </c:pt>
                <c:pt idx="1">
                  <c:v>55637</c:v>
                </c:pt>
                <c:pt idx="2">
                  <c:v>55707</c:v>
                </c:pt>
                <c:pt idx="3">
                  <c:v>56835</c:v>
                </c:pt>
                <c:pt idx="4">
                  <c:v>57929</c:v>
                </c:pt>
                <c:pt idx="5">
                  <c:v>59467</c:v>
                </c:pt>
                <c:pt idx="6">
                  <c:v>64805</c:v>
                </c:pt>
                <c:pt idx="7">
                  <c:v>67469</c:v>
                </c:pt>
                <c:pt idx="8">
                  <c:v>75124</c:v>
                </c:pt>
                <c:pt idx="9">
                  <c:v>93856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4F-4443-B852-3AEFC17F64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Home</c:v>
                </c:pt>
                <c:pt idx="1">
                  <c:v>Accessories</c:v>
                </c:pt>
                <c:pt idx="2">
                  <c:v>Footwear</c:v>
                </c:pt>
                <c:pt idx="3">
                  <c:v>Beauty</c:v>
                </c:pt>
                <c:pt idx="4">
                  <c:v>Clothing</c:v>
                </c:pt>
                <c:pt idx="5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27.6</c:v>
                </c:pt>
                <c:pt idx="1">
                  <c:v>27</c:v>
                </c:pt>
                <c:pt idx="2">
                  <c:v>25.8</c:v>
                </c:pt>
                <c:pt idx="3">
                  <c:v>25.5</c:v>
                </c:pt>
                <c:pt idx="4">
                  <c:v>24.6</c:v>
                </c:pt>
                <c:pt idx="5">
                  <c:v>23.4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3B-4884-91FF-93689F24EB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Europe Central</c:v>
                </c:pt>
                <c:pt idx="1">
                  <c:v>Africa North</c:v>
                </c:pt>
                <c:pt idx="2">
                  <c:v>Africa South</c:v>
                </c:pt>
                <c:pt idx="3">
                  <c:v>South America</c:v>
                </c:pt>
                <c:pt idx="4">
                  <c:v>Middle East</c:v>
                </c:pt>
                <c:pt idx="5">
                  <c:v>Oceania</c:v>
                </c:pt>
                <c:pt idx="6">
                  <c:v>Asia East</c:v>
                </c:pt>
                <c:pt idx="7">
                  <c:v>Asia South</c:v>
                </c:pt>
                <c:pt idx="8">
                  <c:v>Europe West</c:v>
                </c:pt>
                <c:pt idx="9">
                  <c:v>North America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496</c:v>
                </c:pt>
                <c:pt idx="1">
                  <c:v>480</c:v>
                </c:pt>
                <c:pt idx="2">
                  <c:v>460</c:v>
                </c:pt>
                <c:pt idx="3">
                  <c:v>457</c:v>
                </c:pt>
                <c:pt idx="4">
                  <c:v>452</c:v>
                </c:pt>
                <c:pt idx="5">
                  <c:v>451</c:v>
                </c:pt>
                <c:pt idx="6">
                  <c:v>450</c:v>
                </c:pt>
                <c:pt idx="7">
                  <c:v>447</c:v>
                </c:pt>
                <c:pt idx="8">
                  <c:v>445</c:v>
                </c:pt>
                <c:pt idx="9">
                  <c:v>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8F-42ED-B2D0-DC04D0D879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Accessories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2023 Q2</c:v>
                </c:pt>
                <c:pt idx="1">
                  <c:v>2023 Q3</c:v>
                </c:pt>
                <c:pt idx="2">
                  <c:v>2023 Q4</c:v>
                </c:pt>
                <c:pt idx="3">
                  <c:v>2024 Q1</c:v>
                </c:pt>
                <c:pt idx="4">
                  <c:v>2024 Q2</c:v>
                </c:pt>
                <c:pt idx="5">
                  <c:v>2024 Q3</c:v>
                </c:pt>
                <c:pt idx="6">
                  <c:v>2024 Q4</c:v>
                </c:pt>
                <c:pt idx="7">
                  <c:v>2025 Q1</c:v>
                </c:pt>
                <c:pt idx="8">
                  <c:v>2025 Q2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40866</c:v>
                </c:pt>
                <c:pt idx="1">
                  <c:v>43317</c:v>
                </c:pt>
                <c:pt idx="2">
                  <c:v>59072</c:v>
                </c:pt>
                <c:pt idx="3">
                  <c:v>60346</c:v>
                </c:pt>
                <c:pt idx="4">
                  <c:v>48727</c:v>
                </c:pt>
                <c:pt idx="5">
                  <c:v>55701</c:v>
                </c:pt>
                <c:pt idx="6">
                  <c:v>43200</c:v>
                </c:pt>
                <c:pt idx="7">
                  <c:v>39806</c:v>
                </c:pt>
                <c:pt idx="8">
                  <c:v>5804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CB-417B-994B-5279E153AF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Beauty</c:v>
                </c:pt>
              </c:strCache>
            </c:strRef>
          </c:tx>
          <c:spPr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2023 Q2</c:v>
                </c:pt>
                <c:pt idx="1">
                  <c:v>2023 Q3</c:v>
                </c:pt>
                <c:pt idx="2">
                  <c:v>2023 Q4</c:v>
                </c:pt>
                <c:pt idx="3">
                  <c:v>2024 Q1</c:v>
                </c:pt>
                <c:pt idx="4">
                  <c:v>2024 Q2</c:v>
                </c:pt>
                <c:pt idx="5">
                  <c:v>2024 Q3</c:v>
                </c:pt>
                <c:pt idx="6">
                  <c:v>2024 Q4</c:v>
                </c:pt>
                <c:pt idx="7">
                  <c:v>2025 Q1</c:v>
                </c:pt>
                <c:pt idx="8">
                  <c:v>2025 Q2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48992</c:v>
                </c:pt>
                <c:pt idx="1">
                  <c:v>40284</c:v>
                </c:pt>
                <c:pt idx="2">
                  <c:v>45744</c:v>
                </c:pt>
                <c:pt idx="3">
                  <c:v>46825</c:v>
                </c:pt>
                <c:pt idx="4">
                  <c:v>53715</c:v>
                </c:pt>
                <c:pt idx="5">
                  <c:v>43671</c:v>
                </c:pt>
                <c:pt idx="6">
                  <c:v>24926</c:v>
                </c:pt>
                <c:pt idx="7">
                  <c:v>45341</c:v>
                </c:pt>
                <c:pt idx="8">
                  <c:v>5395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CB-417B-994B-5279E153AF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Clothing</c:v>
                </c:pt>
              </c:strCache>
            </c:strRef>
          </c:tx>
          <c:spPr>
            <a:ln w="31750" cap="flat">
              <a:solidFill>
                <a:srgbClr val="6B8CF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B8CFF"/>
              </a:solidFill>
              <a:ln w="9525" cap="flat">
                <a:solidFill>
                  <a:srgbClr val="6B8CF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2023 Q2</c:v>
                </c:pt>
                <c:pt idx="1">
                  <c:v>2023 Q3</c:v>
                </c:pt>
                <c:pt idx="2">
                  <c:v>2023 Q4</c:v>
                </c:pt>
                <c:pt idx="3">
                  <c:v>2024 Q1</c:v>
                </c:pt>
                <c:pt idx="4">
                  <c:v>2024 Q2</c:v>
                </c:pt>
                <c:pt idx="5">
                  <c:v>2024 Q3</c:v>
                </c:pt>
                <c:pt idx="6">
                  <c:v>2024 Q4</c:v>
                </c:pt>
                <c:pt idx="7">
                  <c:v>2025 Q1</c:v>
                </c:pt>
                <c:pt idx="8">
                  <c:v>2025 Q2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13099</c:v>
                </c:pt>
                <c:pt idx="1">
                  <c:v>43008</c:v>
                </c:pt>
                <c:pt idx="2">
                  <c:v>52584</c:v>
                </c:pt>
                <c:pt idx="3">
                  <c:v>54594</c:v>
                </c:pt>
                <c:pt idx="4">
                  <c:v>46469</c:v>
                </c:pt>
                <c:pt idx="5">
                  <c:v>44563</c:v>
                </c:pt>
                <c:pt idx="6">
                  <c:v>38498</c:v>
                </c:pt>
                <c:pt idx="7">
                  <c:v>42361</c:v>
                </c:pt>
                <c:pt idx="8">
                  <c:v>12303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FCB-417B-994B-5279E153AF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Electronics</c:v>
                </c:pt>
              </c:strCache>
            </c:strRef>
          </c:tx>
          <c:spPr>
            <a:ln w="31750" cap="flat">
              <a:solidFill>
                <a:srgbClr val="8FBF7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FBF7F"/>
              </a:solidFill>
              <a:ln w="9525" cap="flat">
                <a:solidFill>
                  <a:srgbClr val="8FBF7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2023 Q2</c:v>
                </c:pt>
                <c:pt idx="1">
                  <c:v>2023 Q3</c:v>
                </c:pt>
                <c:pt idx="2">
                  <c:v>2023 Q4</c:v>
                </c:pt>
                <c:pt idx="3">
                  <c:v>2024 Q1</c:v>
                </c:pt>
                <c:pt idx="4">
                  <c:v>2024 Q2</c:v>
                </c:pt>
                <c:pt idx="5">
                  <c:v>2024 Q3</c:v>
                </c:pt>
                <c:pt idx="6">
                  <c:v>2024 Q4</c:v>
                </c:pt>
                <c:pt idx="7">
                  <c:v>2025 Q1</c:v>
                </c:pt>
                <c:pt idx="8">
                  <c:v>2025 Q2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73976</c:v>
                </c:pt>
                <c:pt idx="1">
                  <c:v>72145</c:v>
                </c:pt>
                <c:pt idx="2">
                  <c:v>81180</c:v>
                </c:pt>
                <c:pt idx="3">
                  <c:v>64064</c:v>
                </c:pt>
                <c:pt idx="4">
                  <c:v>75037</c:v>
                </c:pt>
                <c:pt idx="5">
                  <c:v>97724</c:v>
                </c:pt>
                <c:pt idx="6">
                  <c:v>87980</c:v>
                </c:pt>
                <c:pt idx="7">
                  <c:v>83778</c:v>
                </c:pt>
                <c:pt idx="8">
                  <c:v>13548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FCB-417B-994B-5279E153AF6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Footwear</c:v>
                </c:pt>
              </c:strCache>
            </c:strRef>
          </c:tx>
          <c:spPr>
            <a:ln w="31750" cap="flat">
              <a:solidFill>
                <a:srgbClr val="C25B8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25B8F"/>
              </a:solidFill>
              <a:ln w="9525" cap="flat">
                <a:solidFill>
                  <a:srgbClr val="C25B8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2023 Q2</c:v>
                </c:pt>
                <c:pt idx="1">
                  <c:v>2023 Q3</c:v>
                </c:pt>
                <c:pt idx="2">
                  <c:v>2023 Q4</c:v>
                </c:pt>
                <c:pt idx="3">
                  <c:v>2024 Q1</c:v>
                </c:pt>
                <c:pt idx="4">
                  <c:v>2024 Q2</c:v>
                </c:pt>
                <c:pt idx="5">
                  <c:v>2024 Q3</c:v>
                </c:pt>
                <c:pt idx="6">
                  <c:v>2024 Q4</c:v>
                </c:pt>
                <c:pt idx="7">
                  <c:v>2025 Q1</c:v>
                </c:pt>
                <c:pt idx="8">
                  <c:v>2025 Q2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45111</c:v>
                </c:pt>
                <c:pt idx="1">
                  <c:v>55275</c:v>
                </c:pt>
                <c:pt idx="2">
                  <c:v>57363</c:v>
                </c:pt>
                <c:pt idx="3">
                  <c:v>44321</c:v>
                </c:pt>
                <c:pt idx="4">
                  <c:v>65423</c:v>
                </c:pt>
                <c:pt idx="5">
                  <c:v>66392</c:v>
                </c:pt>
                <c:pt idx="6">
                  <c:v>43051</c:v>
                </c:pt>
                <c:pt idx="7">
                  <c:v>66598</c:v>
                </c:pt>
                <c:pt idx="8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FCB-417B-994B-5279E153AF6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Home</c:v>
                </c:pt>
              </c:strCache>
            </c:strRef>
          </c:tx>
          <c:spPr>
            <a:ln w="31750" cap="flat">
              <a:solidFill>
                <a:srgbClr val="5DBFC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DBFC4"/>
              </a:solidFill>
              <a:ln w="9525" cap="flat">
                <a:solidFill>
                  <a:srgbClr val="5DBFC4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2023 Q2</c:v>
                </c:pt>
                <c:pt idx="1">
                  <c:v>2023 Q3</c:v>
                </c:pt>
                <c:pt idx="2">
                  <c:v>2023 Q4</c:v>
                </c:pt>
                <c:pt idx="3">
                  <c:v>2024 Q1</c:v>
                </c:pt>
                <c:pt idx="4">
                  <c:v>2024 Q2</c:v>
                </c:pt>
                <c:pt idx="5">
                  <c:v>2024 Q3</c:v>
                </c:pt>
                <c:pt idx="6">
                  <c:v>2024 Q4</c:v>
                </c:pt>
                <c:pt idx="7">
                  <c:v>2025 Q1</c:v>
                </c:pt>
                <c:pt idx="8">
                  <c:v>2025 Q2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59501</c:v>
                </c:pt>
                <c:pt idx="1">
                  <c:v>51132</c:v>
                </c:pt>
                <c:pt idx="2">
                  <c:v>67888</c:v>
                </c:pt>
                <c:pt idx="3">
                  <c:v>89792</c:v>
                </c:pt>
                <c:pt idx="4">
                  <c:v>89028</c:v>
                </c:pt>
                <c:pt idx="5">
                  <c:v>72700</c:v>
                </c:pt>
                <c:pt idx="6">
                  <c:v>54787</c:v>
                </c:pt>
                <c:pt idx="7">
                  <c:v>52582</c:v>
                </c:pt>
                <c:pt idx="8">
                  <c:v>19973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FCB-417B-994B-5279E153A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 '24</c:v>
                </c:pt>
                <c:pt idx="1">
                  <c:v>May '24</c:v>
                </c:pt>
                <c:pt idx="2">
                  <c:v>Jun '24</c:v>
                </c:pt>
                <c:pt idx="3">
                  <c:v>Jul '24</c:v>
                </c:pt>
                <c:pt idx="4">
                  <c:v>Aug '24</c:v>
                </c:pt>
                <c:pt idx="5">
                  <c:v>Sep '24</c:v>
                </c:pt>
                <c:pt idx="6">
                  <c:v>Oct '24</c:v>
                </c:pt>
                <c:pt idx="7">
                  <c:v>Nov '24</c:v>
                </c:pt>
                <c:pt idx="8">
                  <c:v>Dec '24</c:v>
                </c:pt>
                <c:pt idx="9">
                  <c:v>Jan '25</c:v>
                </c:pt>
                <c:pt idx="10">
                  <c:v>Feb '25</c:v>
                </c:pt>
                <c:pt idx="11">
                  <c:v>Mar '25</c:v>
                </c:pt>
                <c:pt idx="12">
                  <c:v>Apr '25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57813</c:v>
                </c:pt>
                <c:pt idx="1">
                  <c:v>142083</c:v>
                </c:pt>
                <c:pt idx="2">
                  <c:v>126559</c:v>
                </c:pt>
                <c:pt idx="3">
                  <c:v>109985</c:v>
                </c:pt>
                <c:pt idx="4">
                  <c:v>118825</c:v>
                </c:pt>
                <c:pt idx="5">
                  <c:v>151941</c:v>
                </c:pt>
                <c:pt idx="6">
                  <c:v>101268</c:v>
                </c:pt>
                <c:pt idx="7">
                  <c:v>101022</c:v>
                </c:pt>
                <c:pt idx="8">
                  <c:v>90152</c:v>
                </c:pt>
                <c:pt idx="9">
                  <c:v>109979</c:v>
                </c:pt>
                <c:pt idx="10">
                  <c:v>103612</c:v>
                </c:pt>
                <c:pt idx="11">
                  <c:v>116875</c:v>
                </c:pt>
                <c:pt idx="12">
                  <c:v>64809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BF-4352-94F2-DD6794B14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Apr '23</c:v>
                </c:pt>
                <c:pt idx="1">
                  <c:v>May '23</c:v>
                </c:pt>
                <c:pt idx="2">
                  <c:v>Jun '23</c:v>
                </c:pt>
                <c:pt idx="3">
                  <c:v>Jul '23</c:v>
                </c:pt>
                <c:pt idx="4">
                  <c:v>Aug '23</c:v>
                </c:pt>
                <c:pt idx="5">
                  <c:v>Sep '23</c:v>
                </c:pt>
                <c:pt idx="6">
                  <c:v>Oct '23</c:v>
                </c:pt>
                <c:pt idx="7">
                  <c:v>Nov '23</c:v>
                </c:pt>
                <c:pt idx="8">
                  <c:v>Dec '23</c:v>
                </c:pt>
                <c:pt idx="9">
                  <c:v>Jan '24</c:v>
                </c:pt>
                <c:pt idx="10">
                  <c:v>Feb '24</c:v>
                </c:pt>
                <c:pt idx="11">
                  <c:v>Mar '24</c:v>
                </c:pt>
                <c:pt idx="12">
                  <c:v>Apr '24</c:v>
                </c:pt>
                <c:pt idx="13">
                  <c:v>May '24</c:v>
                </c:pt>
                <c:pt idx="14">
                  <c:v>Jun '24</c:v>
                </c:pt>
                <c:pt idx="15">
                  <c:v>Jul '24</c:v>
                </c:pt>
                <c:pt idx="16">
                  <c:v>Aug '24</c:v>
                </c:pt>
                <c:pt idx="17">
                  <c:v>Sep '24</c:v>
                </c:pt>
                <c:pt idx="18">
                  <c:v>Oct '24</c:v>
                </c:pt>
                <c:pt idx="19">
                  <c:v>Nov '24</c:v>
                </c:pt>
                <c:pt idx="20">
                  <c:v>Dec '24</c:v>
                </c:pt>
                <c:pt idx="21">
                  <c:v>Jan '25</c:v>
                </c:pt>
                <c:pt idx="22">
                  <c:v>Feb '25</c:v>
                </c:pt>
                <c:pt idx="23">
                  <c:v>Mar '25</c:v>
                </c:pt>
                <c:pt idx="24">
                  <c:v>Apr '25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2090</c:v>
                </c:pt>
                <c:pt idx="1">
                  <c:v>2965</c:v>
                </c:pt>
                <c:pt idx="2">
                  <c:v>2728</c:v>
                </c:pt>
                <c:pt idx="3">
                  <c:v>2697</c:v>
                </c:pt>
                <c:pt idx="4">
                  <c:v>3796</c:v>
                </c:pt>
                <c:pt idx="5">
                  <c:v>2605</c:v>
                </c:pt>
                <c:pt idx="6">
                  <c:v>3592</c:v>
                </c:pt>
                <c:pt idx="7">
                  <c:v>3371</c:v>
                </c:pt>
                <c:pt idx="8">
                  <c:v>3561</c:v>
                </c:pt>
                <c:pt idx="9">
                  <c:v>3714</c:v>
                </c:pt>
                <c:pt idx="10">
                  <c:v>3888</c:v>
                </c:pt>
                <c:pt idx="11">
                  <c:v>3198</c:v>
                </c:pt>
                <c:pt idx="12">
                  <c:v>3326</c:v>
                </c:pt>
                <c:pt idx="13">
                  <c:v>3643</c:v>
                </c:pt>
                <c:pt idx="14">
                  <c:v>3421</c:v>
                </c:pt>
                <c:pt idx="15">
                  <c:v>3142</c:v>
                </c:pt>
                <c:pt idx="16">
                  <c:v>3395</c:v>
                </c:pt>
                <c:pt idx="17">
                  <c:v>3896</c:v>
                </c:pt>
                <c:pt idx="18">
                  <c:v>2665</c:v>
                </c:pt>
                <c:pt idx="19">
                  <c:v>2886</c:v>
                </c:pt>
                <c:pt idx="20">
                  <c:v>3005</c:v>
                </c:pt>
                <c:pt idx="21">
                  <c:v>3142</c:v>
                </c:pt>
                <c:pt idx="22">
                  <c:v>2960</c:v>
                </c:pt>
                <c:pt idx="23">
                  <c:v>3542</c:v>
                </c:pt>
                <c:pt idx="24">
                  <c:v>2818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F2-42AE-88A1-002223075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Asia East</c:v>
                </c:pt>
                <c:pt idx="1">
                  <c:v>Oceania</c:v>
                </c:pt>
                <c:pt idx="2">
                  <c:v>Africa North</c:v>
                </c:pt>
                <c:pt idx="3">
                  <c:v>Europe West</c:v>
                </c:pt>
                <c:pt idx="4">
                  <c:v>Africa South</c:v>
                </c:pt>
                <c:pt idx="5">
                  <c:v>South America</c:v>
                </c:pt>
                <c:pt idx="6">
                  <c:v>North America</c:v>
                </c:pt>
                <c:pt idx="7">
                  <c:v>Europe Central</c:v>
                </c:pt>
                <c:pt idx="8">
                  <c:v>Middle East</c:v>
                </c:pt>
                <c:pt idx="9">
                  <c:v>Asia South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138</c:v>
                </c:pt>
                <c:pt idx="1">
                  <c:v>124</c:v>
                </c:pt>
                <c:pt idx="2">
                  <c:v>119</c:v>
                </c:pt>
                <c:pt idx="3">
                  <c:v>106</c:v>
                </c:pt>
                <c:pt idx="4">
                  <c:v>102</c:v>
                </c:pt>
                <c:pt idx="5">
                  <c:v>95</c:v>
                </c:pt>
                <c:pt idx="6">
                  <c:v>95</c:v>
                </c:pt>
                <c:pt idx="7">
                  <c:v>90</c:v>
                </c:pt>
                <c:pt idx="8">
                  <c:v>69</c:v>
                </c:pt>
                <c:pt idx="9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0-4E05-93EC-91A3196BF1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Asia East</c:v>
                </c:pt>
                <c:pt idx="1">
                  <c:v>Africa North</c:v>
                </c:pt>
                <c:pt idx="2">
                  <c:v>Oceania</c:v>
                </c:pt>
                <c:pt idx="3">
                  <c:v>Europe West</c:v>
                </c:pt>
                <c:pt idx="4">
                  <c:v>Africa South</c:v>
                </c:pt>
                <c:pt idx="5">
                  <c:v>South America</c:v>
                </c:pt>
                <c:pt idx="6">
                  <c:v>Europe Central</c:v>
                </c:pt>
                <c:pt idx="7">
                  <c:v>North America</c:v>
                </c:pt>
                <c:pt idx="8">
                  <c:v>Asia South</c:v>
                </c:pt>
                <c:pt idx="9">
                  <c:v>Middle East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422270</c:v>
                </c:pt>
                <c:pt idx="1">
                  <c:v>361770</c:v>
                </c:pt>
                <c:pt idx="2">
                  <c:v>350233</c:v>
                </c:pt>
                <c:pt idx="3">
                  <c:v>278327</c:v>
                </c:pt>
                <c:pt idx="4">
                  <c:v>272797</c:v>
                </c:pt>
                <c:pt idx="5">
                  <c:v>253405</c:v>
                </c:pt>
                <c:pt idx="6">
                  <c:v>242593</c:v>
                </c:pt>
                <c:pt idx="7">
                  <c:v>235501</c:v>
                </c:pt>
                <c:pt idx="8">
                  <c:v>174577</c:v>
                </c:pt>
                <c:pt idx="9">
                  <c:v>165874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F9-4FB1-B554-B2788C3C24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Home</c:v>
                </c:pt>
                <c:pt idx="1">
                  <c:v>Accessories</c:v>
                </c:pt>
                <c:pt idx="2">
                  <c:v>Footwear</c:v>
                </c:pt>
                <c:pt idx="3">
                  <c:v>Beauty</c:v>
                </c:pt>
                <c:pt idx="4">
                  <c:v>Clothing</c:v>
                </c:pt>
                <c:pt idx="5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27.62</c:v>
                </c:pt>
                <c:pt idx="1">
                  <c:v>27.04</c:v>
                </c:pt>
                <c:pt idx="2">
                  <c:v>25.83</c:v>
                </c:pt>
                <c:pt idx="3">
                  <c:v>25.45</c:v>
                </c:pt>
                <c:pt idx="4">
                  <c:v>24.62</c:v>
                </c:pt>
                <c:pt idx="5">
                  <c:v>23.35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9-4EF7-9547-5CDAD433EB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Africa South</c:v>
                </c:pt>
                <c:pt idx="1">
                  <c:v>North America</c:v>
                </c:pt>
                <c:pt idx="2">
                  <c:v>South America</c:v>
                </c:pt>
                <c:pt idx="3">
                  <c:v>Europe Central</c:v>
                </c:pt>
                <c:pt idx="4">
                  <c:v>Asia East</c:v>
                </c:pt>
                <c:pt idx="5">
                  <c:v>Oceania</c:v>
                </c:pt>
                <c:pt idx="6">
                  <c:v>Africa North</c:v>
                </c:pt>
                <c:pt idx="7">
                  <c:v>Europe West</c:v>
                </c:pt>
                <c:pt idx="8">
                  <c:v>Middle East</c:v>
                </c:pt>
                <c:pt idx="9">
                  <c:v>Asia South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31.37</c:v>
                </c:pt>
                <c:pt idx="1">
                  <c:v>30.53</c:v>
                </c:pt>
                <c:pt idx="2">
                  <c:v>26.32</c:v>
                </c:pt>
                <c:pt idx="3">
                  <c:v>25.56</c:v>
                </c:pt>
                <c:pt idx="4">
                  <c:v>23.91</c:v>
                </c:pt>
                <c:pt idx="5">
                  <c:v>23.39</c:v>
                </c:pt>
                <c:pt idx="6">
                  <c:v>22.69</c:v>
                </c:pt>
                <c:pt idx="7">
                  <c:v>22.64</c:v>
                </c:pt>
                <c:pt idx="8">
                  <c:v>21.74</c:v>
                </c:pt>
                <c:pt idx="9">
                  <c:v>19.350000000000001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24-44BA-A535-058A456E3E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25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Ecommerce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Across Sales, Customers, Products &amp; Returns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2023-04-15 to 2025-04-14   |   1,000 orders across 200 customers, 100 products, 10 regions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General Sales Insights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AOV, and order-size patterns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70168" y="132588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8848" y="1490472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Customer Insights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38848" y="18745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spenders, loyalty, segments, lifetime value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907792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Product &amp; Order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29184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sellers, returns, pricing by region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70168" y="274320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8768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38848" y="2907792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Temporal Trends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38848" y="329184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and AOV movement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325112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Regional Insights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70916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and revenue by region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70168" y="4160520"/>
            <a:ext cx="5364328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98768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9876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38848" y="4325112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Return &amp; Refund Insights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38848" y="470916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who returns are coming from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036003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$2.76M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1761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7523" y="1371600"/>
            <a:ext cx="2036003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67523" y="160020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04683" y="2514600"/>
            <a:ext cx="1761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Excl. Returns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77846" y="1371600"/>
            <a:ext cx="2036003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77846" y="160020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$3,233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15006" y="2514600"/>
            <a:ext cx="1761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88169" y="1371600"/>
            <a:ext cx="2036003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88169" y="160020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25329" y="2514600"/>
            <a:ext cx="1761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8492" y="1371600"/>
            <a:ext cx="2036003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98492" y="1600200"/>
            <a:ext cx="2036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35652" y="2514600"/>
            <a:ext cx="1761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1277295" cy="2606040"/>
          </a:xfrm>
          <a:prstGeom prst="roundRect">
            <a:avLst>
              <a:gd name="adj" fmla="val 280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49040"/>
            <a:ext cx="108200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1,000 orders placed between 2023-04-15 and 2025-04-14, the store generated $2,757,346 in gross revenue, of which $2,049,059 (74.3%) came from orders that were never returned.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a material drag: 249 of 1,000 orders (24.9%) were returned, and the following sections break down exactly which products, categories, regions, and customers drive that number.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is strong on paper — 96.0% of customers placed more than one order — but Section 2 shows this is driven by a small catalog and long observation window rather than deep segmentation.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Sales Insights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with and without returns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by month, product, and category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 overall, over time, and by region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Revenue, With &amp; Without Returns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/ 1.2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revenue generated over the entire period? What is it excluding returned orders?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7862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7862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52957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$2,757,346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112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— all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417320"/>
            <a:ext cx="547862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6255868" y="1417320"/>
            <a:ext cx="5478628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347308" y="1737360"/>
            <a:ext cx="52957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$2,049,059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38748" y="2834640"/>
            <a:ext cx="5112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excluding returned orders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orders account for $708,287 — 25.7% of gross revenue — that should not be counted as "kept" sales.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forecasting or commission calculation based on gross revenue alone will overstate true performance by roughly a quarter; the excl.-returns figure is the more reliable base number.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Month, Across the Full Period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revenue per year / month?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is volatile, ranging from $39,713 in Apr '23 to $151,941 in Sep '24 — a 3.8x swing with no obvious repeating seasonal pattern.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swings are this large month-to-month, a single strong or weak month should not be read as a trend on its own — look at rolling 3-month averages before reacting.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 by Revenue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revenue by product?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M is the single highest-revenue product at $93,856, but the top 3 products combined represent only 8.6% of total revenue — no single SKU dominates.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spread across a wide product mix, which limits concentration risk but also means promotions need to target categories rather than one hero product.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Category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revenue by category?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all categories with $649,433 (23.6% of total revenue), while Clothing trails at $347,479.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top and bottom category is $301,953 — worth checking whether that's driven by lower demand or simply fewer SKUs listed in Clothing.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 — Overall &amp; Over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/ 1.6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 (AOV) across all orders, and how has it moved by year/month?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AOV across all 1,000 orders is $3,233.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AOV has ranged from $2,090 (Apr '23) to $3,896 (Sep '24) — nearly a 1.9x difference, driven more by a handful of large basket orders than by steady price growth.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Size (Items per Order) by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size by region?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East customers add the most items per order (7.6), while Europe Central orders average the fewest (6.2).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across regions is narrow (1.5 items), suggesting basket size is fairly consistent globally — regional revenue differences are driven more by order volume and pricing than by basket size.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total revenue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 and order cadence by region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Spend-based customer segmentation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Customers by Total Revenue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10 customers by total revenue spent?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3419856"/>
        </p:xfrm>
        <a:graphic>
          <a:graphicData uri="http://schemas.openxmlformats.org/drawingml/2006/table">
            <a:tbl>
              <a:tblPr/>
              <a:tblGrid>
                <a:gridCol w="722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Melanie Davis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$46,959.01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Debra Brooks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$39,548.89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Dawn Fowler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$34,253.12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Watson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$33,401.58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Katherine Coleman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$32,474.46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Lacey Ross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$32,054.02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Michele Brandt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$31,890.22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Nancy Shepherd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$31,636.18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 Greene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$31,389.24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Cochran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$31,198.41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Melanie Davis is the top customer at $46,959.01, 18.7% ahead of the #2 spot.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10 customers together account for $344,805 — worth a dedicated VIP or loyalty outreach given their outsized contribution.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Customer Rate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repeat customer rate?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7862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7862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52957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112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than 1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417320"/>
            <a:ext cx="547862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6255868" y="1417320"/>
            <a:ext cx="5478628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347308" y="1737360"/>
            <a:ext cx="52957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38748" y="2834640"/>
            <a:ext cx="5112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customers, out of 199 who ordered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 of customers placed more than one order over the two-year window — a very high repeat rate for ecommerce.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1,000 orders spread across only 199 active customers (~5 orders/customer on average), this is likely inflated by the long observation period rather than reflecting exceptional loyalty — worth validating against a shorter, rolling repeat-purchase window.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Days Between Orders, by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time between two consecutive orders for the same customer, region-wise?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customers reorder fastest, averaging 86 days between orders, versus 140 days in Middle East.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longer reorder gaps are good candidates for reminder emails or replenishment offers timed just before their typical next-purchase window.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by Total Spend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&gt; $1,500, Gold $1,000–1,500, Silver $500–999, Bronze &lt; $500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155680" cy="12435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$2,752,809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of customers already qualify as "Platinum" (192 of 197) — the thresholds from the brief don't meaningfully separate today's customer base.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re-anchor the tier cutoffs to this data's actual spend distribution (e.g. percentile-based) so "Platinum" identifies a genuinely distinct top tier rather than nearly everyone.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Lifetime Value (CLV)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customer lifetime value (CLV)?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4573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54573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3628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$13,997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CLV per customer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2978" y="1417320"/>
            <a:ext cx="354573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4322978" y="1417320"/>
            <a:ext cx="3545738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4414418" y="1737360"/>
            <a:ext cx="33628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05858" y="283464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CLV observed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8757" y="1417320"/>
            <a:ext cx="3545738" cy="2377440"/>
          </a:xfrm>
          <a:prstGeom prst="roundRect">
            <a:avLst>
              <a:gd name="adj" fmla="val 3846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8757" y="1417320"/>
            <a:ext cx="3545738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80197" y="1737360"/>
            <a:ext cx="33628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$46,959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71637" y="283464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CLV — Melanie Davis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(measured here as total historical revenue per customer) averages $13,997, but ranges enormously from $236 to $46,959 — a 199x spread.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wide range confirms the segmentation thresholds in 2.4 need rescaling, and points to a small set of very high-CLV customers worth protecting with dedicated retention efforts.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Order Insights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 by quantity and revenue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return the most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price by region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by category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 by Units Sold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 10 most sold products (by quantity)?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M sells the most units (100), and is also the #1 product by revenue — a genuine best-seller on both dimensions.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inventory and supplier lead-times for this list are prioritized; a stockout here would have an outsized impact on both units and revenue.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 by Revenue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 10 most sold products (by revenue)?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these top-revenue products (e.g. Bag E) don't appear in the top-10-by-quantity list — they earn their place through higher unit price rather than volume.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margin strategy should treat "high revenue, lower volume" products differently from true volume drivers when planning promotions.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with the Highest Return Rate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have the highest return rate? (min. 5 orders)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155680" cy="2798064"/>
        </p:xfrm>
        <a:graphic>
          <a:graphicData uri="http://schemas.openxmlformats.org/drawingml/2006/table">
            <a:tbl>
              <a:tblPr/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Shirt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Shirt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Shirt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 has the highest return rate at 47.8% across 23 orders — nearly half of its orders come back.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products are strong candidates for a quality/fit review (sizing, description accuracy, product photos) before investing further in marketing spend behind them.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Rate by Product Category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return rate by category?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has the highest return rate (27.6%), while Electronics has the lowest (23.4%).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sit in a relatively tight 23–28% band — returns look like a broad, systemic issue (e.g. fit, description accuracy, delivery damage) rather than one category-specific problem.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Product Price Purchased, by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price of products per region?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Europe Central buy the highest-priced products on average ($496), while North America skews toward lower-priced items ($436).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reflects average price of items purchased by customers in each region (Products has no native region field) — useful for tailoring regional merchandising and price positioning.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Sales Trend by Category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sales trend for each product category?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shows the strongest momentum, with second-half-of-period revenue up 23.3% versus the first half.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is in outright decline, but growth rates diverge enough that category-level budget allocation shouldn't be split evenly across all six.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Trends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over the most recent 12 months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AOV moves month to month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— Most Recent 12 Months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monthly sales trends over the past year?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trailing 12 months (Apr '24 to Apr '25), monthly revenue moved from $57,813 to $64,809, a +12.1% change.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swings remain large within the year — treat any single month's number as noisy and watch the trend across at least a quarter before drawing conclusions.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 by Month, Full Period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average order value (AOV) change by month or week?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AOV averages $3,202 but swings roughly 1.9x between its lowest and highest months, with no consistent upward or downward drift.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AOV doesn't trend steadily, it's better tracked as a rolling average when setting basket-size targets rather than compared month-over-month in isolation.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Insights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order the most and least often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comparison across regions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by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the highest and lowest order volume?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East leads with 138 orders, while Asia South trails with 62 — a 2.2x gap.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South and other low-volume regions are worth investigating for market-entry barriers (shipping cost, localization, payment options) rather than assuming low demand.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revenue per region, and how does it compare?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East generates the most revenue ($422,270), consistent with also having the highest order volume — demand and revenue are aligned there.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produces the least revenue ($165,874); combined with the order-volume view in 5.1, this points to a genuine growth opportunity region rather than a saturated one.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&amp; Refund Insights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by category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by region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return most frequently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Return Rate by Category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return rate by product category?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again tops the list at 27.6%, confirming the pattern seen in Section 3 — this isn't a one-off, category-level returns are consistently elevated.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category above 23.4% returned, the business-wide return rate (24.9%) is not being pulled up by one outlier category — it's structural.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Return Rate by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return rate by region?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1127729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South has the highest return rate at 31.4% (out of 102 orders), versus 19.4% in Asia South.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both high order volume and high return rate (cross-reference Section 5) are the highest-priority targets for logistics or product-fit fixes, since the absolute cost of returns there is largest.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with the Most Frequent Returns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43584" y="850392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making frequent returns? (2+ returns)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341985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Nancy Shepherd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Mcneil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Shepherd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Emily Crane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Tracie Waters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 Greene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Cochran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Debra Brooks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 Cooke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Virginia 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7150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Nancy Shepherd leads with 5 returned orders out of 11 placed (45.5%), and several customers on this list return more than half of what they order.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distinguishing two groups here: high-volume shoppers who return proportionally little in absolute terms, versus customers whose return *rate* itself is high — the latter may warrant a returns-policy review or fraud check.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Analytics  |  Insights Deck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healthy ($2,757,346 gross) but returns erode roughly a quarter of it — return reduction is likely the single highest-leverage lever available.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532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487168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broad-based across categories and regions rather than caused by one outlier, so fixes (sizing/fit, product descriptions, packaging) should be applied store-wide, not category-by-category.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74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328416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top customers and top products drive a disproportionate share of revenue — protect them with dedicated retention and inventory priority.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stated customer-segmentation thresholds don't fit this data's actual spend distribution and should be re-anchored so tiers are meaningfully differentiated.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056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010912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Two-year+ of monthly data shows no strong seasonal pattern — plan promotions and staffing around demonstrated volatility, not assumed seasonality.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2653</Words>
  <Application>Microsoft Office PowerPoint</Application>
  <PresentationFormat>Widescreen</PresentationFormat>
  <Paragraphs>384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Kaustav Mondal</cp:lastModifiedBy>
  <cp:revision>1</cp:revision>
  <dcterms:created xsi:type="dcterms:W3CDTF">2026-07-16T20:18:13Z</dcterms:created>
  <dcterms:modified xsi:type="dcterms:W3CDTF">2026-08-19T00:13:40Z</dcterms:modified>
</cp:coreProperties>
</file>